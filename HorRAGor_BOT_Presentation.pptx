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Accroche : « Demandez a ChatGPT la note Rotten Tomatoes d'un film d'horreur obscur de 2012 : il vous repondra avec assurance… et souvent faux. Notre bot, lui, refuse d'inventer. »</a:t>
            </a:r>
          </a:p>
          <a:p/>
          <a:p>
            <a:r>
              <a:t>Poser le contexte en 2 phrases : Partie 1 = on a construit la base de donnees (pipeline d'ingestion TMDB/IMDB/RT + PySpark). Partie 2 = on construit le « cerveau » qui l'exploite.</a:t>
            </a:r>
          </a:p>
          <a:p/>
          <a:p>
            <a:r>
              <a:t>Annoncer le plan : architecture -&gt; donnees -&gt; agent -&gt; outils -&gt; Le Juge -&gt; demo.</a:t>
            </a:r>
          </a:p>
          <a:p/>
          <a:p>
            <a:r>
              <a:t>Ne pas s'attarder : 30 secondes max sur cette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Raconter l'anecdote vecue : pendant les tests, quand la base etait inaccessible, le bot se rabattait sur sa memoire interne et recommandait toujours les memes classiques (« L'Exorciste, Halloween… ») — exactement le comportement qu'on voulait eliminer. C'est ce qui nous a pousses a durcir le system prompt et a afficher les outils utilises dans l'UI.</a:t>
            </a:r>
          </a:p>
          <a:p/>
          <a:p>
            <a:r>
              <a:t>Expliquer le terme RAG si la classe n'est pas a l'aise : Retrieval-Augmented Generation = on va chercher les faits AVANT de generer la reponse.</a:t>
            </a:r>
          </a:p>
          <a:p/>
          <a:p>
            <a:r>
              <a:t>Teaser : « Le Juge, on y revient en detail slide 8 — c'est notre piece maitresse.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POURQUOI du decouplage : on peut remplacer Streamlit par une app mobile demain sans toucher au back ; les cles Groq/Supabase ne quittent jamais le serveur ; et chacun de nous a pu travailler sur sa brique (front / FAISS / API) sans se marcher dessus — 3 branches Git, 3 developpeurs.</a:t>
            </a:r>
          </a:p>
          <a:p/>
          <a:p>
            <a:r>
              <a:t>Mentionner le typage Pydantic : chaque requete/reponse est validee — si le front envoie n'importe quoi, l'API refuse proprement (HTTP 422), pas de crash.</a:t>
            </a:r>
          </a:p>
          <a:p/>
          <a:p>
            <a:r>
              <a:t>Transition : « Voyons maintenant ce qu'il y a dans cette base.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Raconter le bug en mode « war story » : un de nos outils interrogeait SELECT genres FROM film -&gt; PostgreSQL renvoyait "column does not exist" -&gt; notre gestion d'erreur trop generique traduisait ca en « base inaccessible » -&gt; on a passe du temps a suspecter Supabase (qui etait en pause Free Tier par ailleurs, vraie fausse piste !). Lecon double : 1) respecter le modele Hub &amp; Spoke partout, 2) ne jamais masquer les vraies erreurs derriere un message generique.</a:t>
            </a:r>
          </a:p>
          <a:p/>
          <a:p>
            <a:r>
              <a:t>Rappeler d'ou viennent les horror_keywords : c'est le resultat du job PySpark de la Partie 1 — et on va les reutiliser dans le simulateur de survie (slide 7). Boucle bouclee entre les deux parties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Vulgariser l'embedding : « chaque synopsis devient un point dans un espace a 384 dimensions ; deux films qui parlent de la meme chose sont des points proches. La recherche = trouver les plus proches voisins du point-question. »</a:t>
            </a:r>
          </a:p>
          <a:p/>
          <a:p>
            <a:r>
              <a:t>normalize_embeddings=True : detail technique a placer si question — vecteurs normalises =&gt; le produit scalaire EST la similarite cosinus, c'est ce que fait l'index en interne.</a:t>
            </a:r>
          </a:p>
          <a:p/>
          <a:p>
            <a:r>
              <a:t>Justifier le choix vs pgvector (le brief le suggerait) : index en RAM = zero latence reseau, zero charge sur Supabase (qui est un Free Tier partage !), et le calcul vectoriel est decouple de la base. Trade-off assume : si les donnees changent, on relance utils/build_faiss_index.py. Sur un dataset fige de 1179 films, c'est le bon compromis.</a:t>
            </a:r>
          </a:p>
          <a:p/>
          <a:p>
            <a:r>
              <a:t>Anticiper la question « pourquoi MiniLM ? » : 91 Mo, rapide sur CPU, largement suffisant pour de la similarite de synopsis — pas besoin d'un modele 7B.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Assumer le choix devant le jury : le brief mentionnait LangChain/LangGraph. On a prefere implementer le cycle ReAct nous-memes avec le tool-use natif du SDK OpenAI (compatible Groq). Arguments : (1) on comprend et on peut deboguer chaque etape — pas de « magie » de framework, (2) moins de dependances, (3) c'etait trivial d'y inserer notre noeud d'evaluation custom, Le Juge. Pedagogiquement, on a appris ce que LangChain fait sous le capot.</a:t>
            </a:r>
          </a:p>
          <a:p/>
          <a:p>
            <a:r>
              <a:t>Expliquer tool_choice="auto" : c'est LE moment « Reason » — le modele lit les descriptions des 6 outils et decide seul lequel appeler (ou aucun). La qualite des descriptions d'outils est donc cruciale : on les a reecrites plusieurs fois pendant les tests.</a:t>
            </a:r>
          </a:p>
          <a:p/>
          <a:p>
            <a:r>
              <a:t>Anecdote technique si le temps le permet : trop de « OBLIGATOIRE » / « INTERDIT » en majuscules dans le system prompt faisait bugger la generation des tool calls de llama-3.3 (erreur tool_use_failed chez Groq). Un prompt plus sobre a resolu le probleme — le prompt engineering, c'est de l'artisanat.</a:t>
            </a:r>
          </a:p>
          <a:p/>
          <a:p>
            <a:r>
              <a:t>Mentionner la memoire conversationnelle : le front envoie les 8 derniers messages, donc « quel age a LE film ? » apres avoir parle de Dans le noir fonctionne (resolution de reference implicite).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movie_age : le point pedagogique, c'est qu'un LLM est MAUVAIS en arithmetique de dates — donc on ne lui demande pas. Fonction Python pure, zero appel reseau, resultat exact garanti. Bonus : le dictionnaire _MOIS_FR existe parce que Windows renvoyait les mois en anglais via la locale systeme — petit bug reel, fix simple.</a:t>
            </a:r>
          </a:p>
          <a:p/>
          <a:p>
            <a:r>
              <a:t>survival_sim : c'est le pont avec la Partie 1 — les horror_keywords extraits par le job PySpark nourrissent la creativite du LLM. Montrer que RAG != reponses ennuyeuses : ici les donnees reelles CADRENT la creativite (les menaces citees viennent vraiment du film).</a:t>
            </a:r>
          </a:p>
          <a:p/>
          <a:p>
            <a:r>
              <a:t>Dire un mot de detailed_synopsis : API REST Wikipedia (pas de scraping HTML fragile), tronque a la derniere phrase complete — c'est l'outil « aller chercher en direct sur le web » demande par le brief.</a:t>
            </a:r>
          </a:p>
          <a:p/>
          <a:p>
            <a:r>
              <a:t>Rappeler la regle transverse : chaque tool attrape ses erreurs et renvoie un message exploitable par le LLM plutot qu'une stack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slide a defendre le plus : pattern « LLM-as-a-judge », utilise en production dans l'industrie (evaluation automatique de reponses).</a:t>
            </a:r>
          </a:p>
          <a:p/>
          <a:p>
            <a:r>
              <a:t>Detailler les 2 temperatures : l'agent cree a 0.7 (reponses vivantes), le Juge evalue a 0.1 (jugement froid, quasi deterministe). Deux roles, deux reglages.</a:t>
            </a:r>
          </a:p>
          <a:p/>
          <a:p>
            <a:r>
              <a:t>Expliquer la boucle de correction : le Juge ne se contente pas de noter — sa critique (reasoning) est reinjectee a l'agent comme un message utilisateur, et l'agent corrige. Max 2 tentatives pour borner la latence et le cout.</a:t>
            </a:r>
          </a:p>
          <a:p/>
          <a:p>
            <a:r>
              <a:t>Transparence cote utilisateur : le verdict, le % de confiance ET les outils utilises s'affichent dans le bandeau bas de l'UI. L'utilisateur sait toujours D'OU vient la reponse et a quel point le systeme lui fait confiance. Choix UX : les noms d'outils sont bannis du corps de la reponse (naturel) et reserves au bandeau (tracabilite).</a:t>
            </a:r>
          </a:p>
          <a:p/>
          <a:p>
            <a:r>
              <a:t>Limite a admettre si on vous pousse : le Juge est le meme modele que l'agent — il peut partager ses angles morts. Piste : un modele different pour juger.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Derouler la demo dans CET ordre : chaque question declenche un outil different, et la 3e montre la memoire conversationnelle (poser d'abord une question sur un film, PUIS demander « quel age a le film ? » sans le nommer — avant ce fix, le bot repondait sur Shining par defaut, vecu en test !).</a:t>
            </a:r>
          </a:p>
          <a:p/>
          <a:p>
            <a:r>
              <a:t>Pointer physiquement le bandeau du Juge a l'ecran apres la premiere reponse : verdict + % + outils. C'est la materialisation de tout le discours anti-hallucination.</a:t>
            </a:r>
          </a:p>
          <a:p/>
          <a:p>
            <a:r>
              <a:t>Garder les zombies pour la FIN — moment detente : attraper un zombie a la souris, le lancer sur la lune, il marche en orbite tete en bas. Message serieux derriere : soigner l'UX d'un projet data, ca marque les esprits (et c'est du JS/SVG injecte, pas un gadget de librairie).</a:t>
            </a:r>
          </a:p>
          <a:p/>
          <a:p>
            <a:r>
              <a:t>Phrase de cloture proposee : « HorRAGor ne sait pas tout — mais il ne vous mentira pas : il verifie, il cite ses sources, et quand il doute, il vous le dit. C'est ca, pour nous, une IA de confiance. »</a:t>
            </a:r>
          </a:p>
          <a:p/>
          <a:p>
            <a:r>
              <a:t>Si question sur la repartition du travail : Tim front + integration, Nicolas FAISS + similarite, Julie API + tools — mais revue de code croisee sur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F0E8E8"/>
                </a:solidFill>
                <a:latin typeface="Segoe UI Semibold"/>
              </a:rPr>
              <a:t>🩸 HorRAGor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1">
                <a:solidFill>
                  <a:srgbClr val="E06666"/>
                </a:solidFill>
                <a:latin typeface="Segoe UI"/>
              </a:rPr>
              <a:t>L'agent conversationnel qui connaît vraiment l'horreur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C8B0B0"/>
                </a:solidFill>
                <a:latin typeface="Segoe UI"/>
              </a:rPr>
              <a:t>Un chatbot RAG + ReAct anti-hallucination  ·  1179 films  ·  6 outils  ·  1 Juge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C8B0B0"/>
                </a:solidFill>
                <a:latin typeface="Segoe UI"/>
              </a:rPr>
              <a:t>Tim (Front-End)  ·  Nicolas (FAISS)  ·  Julie (API + Tools)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011680" cy="50800"/>
          </a:xfrm>
          <a:prstGeom prst="rect">
            <a:avLst/>
          </a:prstGeom>
          <a:solidFill>
            <a:srgbClr val="B8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8B0B0"/>
                </a:solidFill>
                <a:latin typeface="Segoe UI"/>
              </a:rPr>
              <a:t>HorRAGor BOT  —  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E06666"/>
                </a:solidFill>
                <a:latin typeface="Segoe UI"/>
              </a:rPr>
              <a:t>LE CONTEXTE</a:t>
            </a:r>
          </a:p>
          <a:p>
            <a:r>
              <a:rPr sz="3200" b="1" i="0">
                <a:solidFill>
                  <a:srgbClr val="F0E8E8"/>
                </a:solidFill>
                <a:latin typeface="Segoe UI Semibold"/>
              </a:rPr>
              <a:t>Le problème &amp; notre réponse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280160" cy="38100"/>
          </a:xfrm>
          <a:prstGeom prst="rect">
            <a:avLst/>
          </a:prstGeom>
          <a:solidFill>
            <a:srgbClr val="B8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06666"/>
                </a:solidFill>
                <a:latin typeface="Segoe UI"/>
              </a:rPr>
              <a:t>⚠ Le 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F0E8E8"/>
                </a:solidFill>
                <a:latin typeface="Segoe UI"/>
              </a:rPr>
              <a:t>▸ Un LLM seul invente des dates, des notes, des synopsis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F0E8E8"/>
                </a:solidFill>
                <a:latin typeface="Segoe UI"/>
              </a:rPr>
              <a:t>▸ Inacceptable pour un assistant « expert 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5661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0E8E8"/>
                          </a:solidFill>
                          <a:latin typeface="Segoe UI"/>
                        </a:rPr>
                        <a:t>Garde-fou</a:t>
                      </a:r>
                    </a:p>
                  </a:txBody>
                  <a:tcPr marL="76200" marR="76200" marT="38100" marB="38100" anchor="ctr">
                    <a:solidFill>
                      <a:srgbClr val="B814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0E8E8"/>
                          </a:solidFill>
                          <a:latin typeface="Segoe UI"/>
                        </a:rPr>
                        <a:t>Rôle</a:t>
                      </a:r>
                    </a:p>
                  </a:txBody>
                  <a:tcPr marL="76200" marR="76200" marT="38100" marB="38100" anchor="ctr">
                    <a:solidFill>
                      <a:srgbClr val="B8141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C8B0B0"/>
                          </a:solidFill>
                          <a:latin typeface="Segoe UI"/>
                        </a:rPr>
                        <a:t>🗄 RAG (SQL + vectoriel)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C8B0B0"/>
                          </a:solidFill>
                          <a:latin typeface="Segoe UI"/>
                        </a:rPr>
                        <a:t>L'agent répond depuis nos données réelles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C8B0B0"/>
                          </a:solidFill>
                          <a:latin typeface="Segoe UI"/>
                        </a:rPr>
                        <a:t>🧰 Tools (ReAct)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C8B0B0"/>
                          </a:solidFill>
                          <a:latin typeface="Segoe UI"/>
                        </a:rPr>
                        <a:t>Le LLM agit au lieu de deviner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C8B0B0"/>
                          </a:solidFill>
                          <a:latin typeface="Segoe UI"/>
                        </a:rPr>
                        <a:t>⚖ Le Juge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C8B0B0"/>
                          </a:solidFill>
                          <a:latin typeface="Segoe UI"/>
                        </a:rPr>
                        <a:t>Un 2ᵉ LLM relit et rejette les réponses douteuses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8B0B0"/>
                </a:solidFill>
                <a:latin typeface="Segoe UI"/>
              </a:rPr>
              <a:t>HorRAGor BOT  —  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E06666"/>
                </a:solidFill>
                <a:latin typeface="Segoe UI"/>
              </a:rPr>
              <a:t>ARCHITECTURE</a:t>
            </a:r>
          </a:p>
          <a:p>
            <a:r>
              <a:rPr sz="3200" b="1" i="0">
                <a:solidFill>
                  <a:srgbClr val="F0E8E8"/>
                </a:solidFill>
                <a:latin typeface="Segoe UI Semibold"/>
              </a:rPr>
              <a:t>Découplage strict front / back /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280160" cy="38100"/>
          </a:xfrm>
          <a:prstGeom prst="rect">
            <a:avLst/>
          </a:prstGeom>
          <a:solidFill>
            <a:srgbClr val="B8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332720" cy="4297680"/>
          </a:xfrm>
          <a:prstGeom prst="roundRect">
            <a:avLst>
              <a:gd name="adj" fmla="val 3000"/>
            </a:avLst>
          </a:prstGeom>
          <a:solidFill>
            <a:srgbClr val="0A0606"/>
          </a:solidFill>
          <a:ln w="12700">
            <a:solidFill>
              <a:srgbClr val="B8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┌─────────────────┐   HTTP POST /chat    ┌──────────────────┐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│    STREAMLIT     │ ──────────────────►  │     FASTAPI   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│  frontend/app.py  │ ◄──────────────────  │   main_api.py 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│  (UI seulement)  │     JSON typé        │ (Pydantic strict)│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└─────────────────┘                       └────────┬─────────┘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            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     ┌─────────▼─────────┐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     │    AGENT ReAct  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     │    llm_groq.py  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     │  Groq llama-3.3 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     │    + ⚖ Le Juge  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     └───┬─────┬─────┬────┘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         │     │  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┌────────▼┐ ┌─▼────┐ ┌▼──────────┐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│  FAISS  │ │  DB  │ │ Wikipédia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│  (RAM)  │ │Supa- │ │ API REST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│1179 vec │ │base  │ │  (live)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                          └─────────┘ └──────┘ └───────────┘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1">
                <a:solidFill>
                  <a:srgbClr val="E06666"/>
                </a:solidFill>
                <a:latin typeface="Segoe UI"/>
              </a:rPr>
              <a:t>Règle d'or : le front ne contient aucune logique métier, aucune clé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8B0B0"/>
                </a:solidFill>
                <a:latin typeface="Segoe UI"/>
              </a:rPr>
              <a:t>HorRAGor BOT  —  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E06666"/>
                </a:solidFill>
                <a:latin typeface="Segoe UI"/>
              </a:rPr>
              <a:t>LES DONNÉES</a:t>
            </a:r>
          </a:p>
          <a:p>
            <a:r>
              <a:rPr sz="3200" b="1" i="0">
                <a:solidFill>
                  <a:srgbClr val="F0E8E8"/>
                </a:solidFill>
                <a:latin typeface="Segoe UI Semibold"/>
              </a:rPr>
              <a:t>Hub &amp; Spoke (héritage Partie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280160" cy="38100"/>
          </a:xfrm>
          <a:prstGeom prst="rect">
            <a:avLst/>
          </a:prstGeom>
          <a:solidFill>
            <a:srgbClr val="B8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120640" cy="2011680"/>
          </a:xfrm>
          <a:prstGeom prst="roundRect">
            <a:avLst>
              <a:gd name="adj" fmla="val 3000"/>
            </a:avLst>
          </a:prstGeom>
          <a:solidFill>
            <a:srgbClr val="0A0606"/>
          </a:solidFill>
          <a:ln w="12700">
            <a:solidFill>
              <a:srgbClr val="B8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E8D8B0"/>
                </a:solidFill>
                <a:latin typeface="Consolas"/>
              </a:rPr>
              <a:t>                    ┌──────────┐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E8D8B0"/>
                </a:solidFill>
                <a:latin typeface="Consolas"/>
              </a:rPr>
              <a:t>     ┌──────────────│   FILM   │──────────────┐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E8D8B0"/>
                </a:solidFill>
                <a:latin typeface="Consolas"/>
              </a:rPr>
              <a:t>     │              │  (hub)   │           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E8D8B0"/>
                </a:solidFill>
                <a:latin typeface="Consolas"/>
              </a:rPr>
              <a:t>     │              └────┬─────┘           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E8D8B0"/>
                </a:solidFill>
                <a:latin typeface="Consolas"/>
              </a:rPr>
              <a:t>┌────▼─────┐      ┌──────▼──────┐      ┌──────▼───────┐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E8D8B0"/>
                </a:solidFill>
                <a:latin typeface="Consolas"/>
              </a:rPr>
              <a:t>│  GENRE   │      │ EVALUATION  │      │ANALYSE_SPARK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E8D8B0"/>
                </a:solidFill>
                <a:latin typeface="Consolas"/>
              </a:rPr>
              <a:t>│ (spoke)  │      │   (spoke)   │      │   (spoke)    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E8D8B0"/>
                </a:solidFill>
                <a:latin typeface="Consolas"/>
              </a:rPr>
              <a:t>│Horror,...│      │TMDB/IMDB/RT │      │horror_keywords│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E8D8B0"/>
                </a:solidFill>
                <a:latin typeface="Consolas"/>
              </a:rPr>
              <a:t>└──────────┘      └─────────────┘      └──────────────┘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173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06666"/>
                </a:solidFill>
                <a:latin typeface="Segoe UI"/>
              </a:rPr>
              <a:t>⚠ Piège vécu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7451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F0E8E8"/>
                </a:solidFill>
                <a:latin typeface="Segoe UI"/>
              </a:rPr>
              <a:t>▸ genres et vote_average NE SONT PAS des colonnes de film 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11064240" cy="2651760"/>
          </a:xfrm>
          <a:prstGeom prst="roundRect">
            <a:avLst>
              <a:gd name="adj" fmla="val 3000"/>
            </a:avLst>
          </a:prstGeom>
          <a:solidFill>
            <a:srgbClr val="0A0606"/>
          </a:solidFill>
          <a:ln w="12700">
            <a:solidFill>
              <a:srgbClr val="B8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SELECT f.title,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ARRAY_AGG(DISTINCT g.name) AS genres,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MAX(CASE WHEN e.source_name = 'TMDB'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       THEN e.score_value END) AS vote_average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FROM film f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LEFT JOIN film_genre fg ON f.id = fg.film_id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LEFT JOIN genre g       ON fg.genre_id = g.id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LEFT JOIN evaluation e  ON f.id = e.film_id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WHERE f.id = ANY(%s)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GROUP BY f.id, f.title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8B0B0"/>
                </a:solidFill>
                <a:latin typeface="Segoe UI"/>
              </a:rPr>
              <a:t>HorRAGor BOT  —  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E06666"/>
                </a:solidFill>
                <a:latin typeface="Segoe UI"/>
              </a:rPr>
              <a:t>MÉMOIRE VECTORIELLE</a:t>
            </a:r>
          </a:p>
          <a:p>
            <a:r>
              <a:rPr sz="3200" b="1" i="0">
                <a:solidFill>
                  <a:srgbClr val="F0E8E8"/>
                </a:solidFill>
                <a:latin typeface="Segoe UI Semibold"/>
              </a:rPr>
              <a:t>FAISS : la recherche par le sens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280160" cy="38100"/>
          </a:xfrm>
          <a:prstGeom prst="rect">
            <a:avLst/>
          </a:prstGeom>
          <a:solidFill>
            <a:srgbClr val="B8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C8B0B0"/>
                </a:solidFill>
                <a:latin typeface="Segoe UI"/>
              </a:rPr>
              <a:t>« recommande un film de possession » → trouver les bons films sans que le mot y figure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064240" cy="2880360"/>
          </a:xfrm>
          <a:prstGeom prst="roundRect">
            <a:avLst>
              <a:gd name="adj" fmla="val 3000"/>
            </a:avLst>
          </a:prstGeom>
          <a:solidFill>
            <a:srgbClr val="0A0606"/>
          </a:solidFill>
          <a:ln w="12700">
            <a:solidFill>
              <a:srgbClr val="B8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# llm_groq.py — au démarrage (une seule fois, en RAM)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_model  = SentenceTransformer("all-MiniLM-L6-v2")   # texte -&gt; vecteur 384 dims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_index  = faiss.read_index("data/faiss.index")      # 1179 synopsis vectorisés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_id_map = np.load("data/id_map.npy")                # position FAISS -&gt; id film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# À chaque recherche : ~2 ms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def _search_horror_movies(query: str, k: int = 5) -&gt; str: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vec = _model.encode([query], normalize_embeddings=True)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_, indices = _index.search(vec, k)          # similarité cosinus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film_ids = [int(_id_map[i]) for i in indices[0]]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films = _fetch_films_from_db(film_ids)      # jointures Supabase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   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8B0B0"/>
                </a:solidFill>
                <a:latin typeface="Segoe UI"/>
              </a:rPr>
              <a:t>Pipeline :  </a:t>
            </a:r>
            <a:r>
              <a:rPr sz="1500" b="0" i="0">
                <a:solidFill>
                  <a:srgbClr val="F0E8E8"/>
                </a:solidFill>
                <a:latin typeface="Segoe UI"/>
              </a:rPr>
              <a:t>requête → vecteur → top-k voisins FAISS → IDs → SQL → contexte réel pour le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8B0B0"/>
                </a:solidFill>
                <a:latin typeface="Segoe UI"/>
              </a:rPr>
              <a:t>HorRAGor BOT  —  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E06666"/>
                </a:solidFill>
                <a:latin typeface="Segoe UI"/>
              </a:rPr>
              <a:t>LE CERVEAU</a:t>
            </a:r>
          </a:p>
          <a:p>
            <a:r>
              <a:rPr sz="3200" b="1" i="0">
                <a:solidFill>
                  <a:srgbClr val="F0E8E8"/>
                </a:solidFill>
                <a:latin typeface="Segoe UI Semibold"/>
              </a:rPr>
              <a:t>L'agent ReAct : agir plutôt que deviner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280160" cy="38100"/>
          </a:xfrm>
          <a:prstGeom prst="rect">
            <a:avLst/>
          </a:prstGeom>
          <a:solidFill>
            <a:srgbClr val="B8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1">
                <a:solidFill>
                  <a:srgbClr val="E06666"/>
                </a:solidFill>
                <a:latin typeface="Segoe UI"/>
              </a:rPr>
              <a:t>Pas de framework (LangChain) : une boucle tool-use maison, transparente.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3749039"/>
          </a:xfrm>
          <a:prstGeom prst="roundRect">
            <a:avLst>
              <a:gd name="adj" fmla="val 3000"/>
            </a:avLst>
          </a:prstGeom>
          <a:solidFill>
            <a:srgbClr val="0A0606"/>
          </a:solidFill>
          <a:ln w="12700">
            <a:solidFill>
              <a:srgbClr val="B8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response = await self.client.chat.completions.create(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model="llama-3.3-70b-versatile",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messages=messages,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tools=TOOLS,             # les 6 outils décrits en JSON Schema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tool_choice="auto",      # 🧠 REASON : le LLM choisit lui-même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if choice.finish_reason == "tool_calls":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tool_name = tool_call.function.name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args = json.loads(tool_call.function.arguments)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if tool_name == "query_movie_metadata":             # 🎬 ACT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    metadata = await asyncio.to_thread(query_movie_metadata,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                                       args["movie_name"])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    tool_result_msg = {"role": "tool", "content": metadata, ...}  # 👁 OBSERVE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    response2 = await self.client.chat.completions.create(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        messages=[*messages, assistant_msg, tool_result_msg], ...)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    answer = response2.choices[0].message.content    # ✍ RESPOND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C8B0B0"/>
                </a:solidFill>
                <a:latin typeface="Segoe UI"/>
              </a:rPr>
              <a:t>🔒 Le LLM ne génère jamais de SQL — il fournit un titre, nos fonctions Python font des requêtes paramétrées.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8B0B0"/>
                </a:solidFill>
                <a:latin typeface="Segoe UI"/>
              </a:rPr>
              <a:t>HorRAGor BOT  —  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E06666"/>
                </a:solidFill>
                <a:latin typeface="Segoe UI"/>
              </a:rPr>
              <a:t>LA BOÎTE À OUTILS</a:t>
            </a:r>
          </a:p>
          <a:p>
            <a:r>
              <a:rPr sz="3200" b="1" i="0">
                <a:solidFill>
                  <a:srgbClr val="F0E8E8"/>
                </a:solidFill>
                <a:latin typeface="Segoe UI Semibold"/>
              </a:rPr>
              <a:t>6 tools, zoom sur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280160" cy="38100"/>
          </a:xfrm>
          <a:prstGeom prst="rect">
            <a:avLst/>
          </a:prstGeom>
          <a:solidFill>
            <a:srgbClr val="B8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1828800"/>
              </a:tblGrid>
              <a:tr h="418011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0E8E8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6200" marR="76200" marT="38100" marB="38100" anchor="ctr">
                    <a:solidFill>
                      <a:srgbClr val="B814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0E8E8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 marL="76200" marR="76200" marT="38100" marB="38100" anchor="ctr">
                    <a:solidFill>
                      <a:srgbClr val="B814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0E8E8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76200" marR="76200" marT="38100" marB="38100" anchor="ctr">
                    <a:solidFill>
                      <a:srgbClr val="B81414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query_movie_metadata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SQL Supabase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similar_movies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FAISS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search_horror_movies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FAISS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movie_age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Python pur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detailed_synopsis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Wikipédia live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survival_sim 🎲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8B0B0"/>
                          </a:solidFill>
                          <a:latin typeface="Segoe UI"/>
                        </a:rPr>
                        <a:t>SQL + PySpark keywords</a:t>
                      </a:r>
                    </a:p>
                  </a:txBody>
                  <a:tcPr marL="76200" marR="76200" marT="38100" marB="38100" anchor="ctr">
                    <a:solidFill>
                      <a:srgbClr val="1E0E0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0" y="14173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06666"/>
                </a:solidFill>
                <a:latin typeface="Segoe UI"/>
              </a:rPr>
              <a:t>Zoom movie_age — un LLM compte mal, alors on ne lui demande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783080"/>
            <a:ext cx="5760720" cy="1188720"/>
          </a:xfrm>
          <a:prstGeom prst="roundRect">
            <a:avLst>
              <a:gd name="adj" fmla="val 3000"/>
            </a:avLst>
          </a:prstGeom>
          <a:solidFill>
            <a:srgbClr val="0A0606"/>
          </a:solidFill>
          <a:ln w="12700">
            <a:solidFill>
              <a:srgbClr val="B8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0" i="0">
                <a:solidFill>
                  <a:srgbClr val="E8D8B0"/>
                </a:solidFill>
                <a:latin typeface="Consolas"/>
              </a:rPr>
              <a:t>release = row["release_date"]; today = date.today()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 i="0">
                <a:solidFill>
                  <a:srgbClr val="E8D8B0"/>
                </a:solidFill>
                <a:latin typeface="Consolas"/>
              </a:rPr>
              <a:t>age = today.year - release.year - (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 i="0">
                <a:solidFill>
                  <a:srgbClr val="E8D8B0"/>
                </a:solidFill>
                <a:latin typeface="Consolas"/>
              </a:rPr>
              <a:t>    (today.month, today.day) &lt; (release.month, release.day))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 i="0">
                <a:solidFill>
                  <a:srgbClr val="E8D8B0"/>
                </a:solidFill>
                <a:latin typeface="Consolas"/>
              </a:rPr>
              <a:t>date_fr = f"{release.day} {_MOIS_FR[release.month]} {release.year}"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06666"/>
                </a:solidFill>
                <a:latin typeface="Segoe UI"/>
              </a:rPr>
              <a:t>Zoom survival_sim — les mots-clés PySpark de la Partie 1, réutilisés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3474720"/>
            <a:ext cx="5760720" cy="914400"/>
          </a:xfrm>
          <a:prstGeom prst="roundRect">
            <a:avLst>
              <a:gd name="adj" fmla="val 3000"/>
            </a:avLst>
          </a:prstGeom>
          <a:solidFill>
            <a:srgbClr val="0A0606"/>
          </a:solidFill>
          <a:ln w="12700">
            <a:solidFill>
              <a:srgbClr val="B8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100" b="0" i="0">
                <a:solidFill>
                  <a:srgbClr val="E8D8B0"/>
                </a:solidFill>
                <a:latin typeface="Consolas"/>
              </a:rPr>
              <a:t>SELECT f.overview, s.horror_keywords, s.richness_score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 i="0">
                <a:solidFill>
                  <a:srgbClr val="E8D8B0"/>
                </a:solidFill>
                <a:latin typeface="Consolas"/>
              </a:rPr>
              <a:t>FROM film f LEFT JOIN analyse_spark s ON f.id = s.film_id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0" i="0">
                <a:solidFill>
                  <a:srgbClr val="E8D8B0"/>
                </a:solidFill>
                <a:latin typeface="Consolas"/>
              </a:rPr>
              <a:t>WHERE f.title ILIKE %s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5262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852160" y="452628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F0E8E8"/>
                </a:solidFill>
                <a:latin typeface="Segoe UI"/>
              </a:rPr>
              <a:t>▸ Prompt « maître du jeu sadique » 💀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8B0B0"/>
                </a:solidFill>
                <a:latin typeface="Segoe UI"/>
              </a:rPr>
              <a:t>▸ Probabilité de survie, cause de mort, 3 menaces, verdict cinglant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8B0B0"/>
                </a:solidFill>
                <a:latin typeface="Segoe UI"/>
              </a:rPr>
              <a:t>HorRAGor BOT  —  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E06666"/>
                </a:solidFill>
                <a:latin typeface="Segoe UI"/>
              </a:rPr>
              <a:t>FIABILITÉ</a:t>
            </a:r>
          </a:p>
          <a:p>
            <a:r>
              <a:rPr sz="3200" b="1" i="0">
                <a:solidFill>
                  <a:srgbClr val="F0E8E8"/>
                </a:solidFill>
                <a:latin typeface="Segoe UI Semibold"/>
              </a:rPr>
              <a:t>⚖ Le Juge : l'anti-hallucination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280160" cy="38100"/>
          </a:xfrm>
          <a:prstGeom prst="rect">
            <a:avLst/>
          </a:prstGeom>
          <a:solidFill>
            <a:srgbClr val="B8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1">
                <a:solidFill>
                  <a:srgbClr val="E06666"/>
                </a:solidFill>
                <a:latin typeface="Segoe UI"/>
              </a:rPr>
              <a:t>Après CHAQUE réponse, un 2ᵉ appel LLM évalue — et peut faire recommencer.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3017520"/>
          </a:xfrm>
          <a:prstGeom prst="roundRect">
            <a:avLst>
              <a:gd name="adj" fmla="val 3000"/>
            </a:avLst>
          </a:prstGeom>
          <a:solidFill>
            <a:srgbClr val="0A0606"/>
          </a:solidFill>
          <a:ln w="12700">
            <a:solidFill>
              <a:srgbClr val="B8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_JUDGE_SYSTEM_PROMPT = (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"Tu es Le Juge, un évaluateur strict de HorRAGor BOT. "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"Détecte les hallucinations et vérifie la cohérence. "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'Format obligatoire : {"is_valid": true, "confidence": 0.95, "reasoning": "..."}')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verdict = await self._judge_response(question, answer, tools_used)  # température 0.1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for attempt in range(_MAX_RETRIES):        # max 2 retries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if verdict["is_valid"] or verdict["confidence"] &gt;= 0.65: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    break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retry_messages.append({"role": "user", "content":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    f"[Critique du Juge] {verdict['reasoning']}. Corrige-la..."})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answer  = ...   # l'agent réécrit sa réponse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 i="0">
                <a:solidFill>
                  <a:srgbClr val="E8D8B0"/>
                </a:solidFill>
                <a:latin typeface="Consolas"/>
              </a:rPr>
              <a:t>    verdict = await self._judge_response(question, answer, tools_used)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8B0B0"/>
                </a:solidFill>
                <a:latin typeface="Segoe UI"/>
              </a:rPr>
              <a:t>Verdict affiché en direct dans l'UI :  </a:t>
            </a:r>
            <a:r>
              <a:rPr sz="1500" b="1" i="0">
                <a:solidFill>
                  <a:srgbClr val="F0E8E8"/>
                </a:solidFill>
                <a:latin typeface="Segoe UI"/>
              </a:rPr>
              <a:t>🩸 APPROUVÉ (≥80%)   ⚠ MITIGÉ (&lt;80%)   💀 CONDAMNÉ (retry)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8B0B0"/>
                </a:solidFill>
                <a:latin typeface="Segoe UI"/>
              </a:rPr>
              <a:t>HorRAGor BOT  —  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i="0">
                <a:solidFill>
                  <a:srgbClr val="E06666"/>
                </a:solidFill>
                <a:latin typeface="Segoe UI"/>
              </a:rPr>
              <a:t>POUR CONCLURE</a:t>
            </a:r>
          </a:p>
          <a:p>
            <a:r>
              <a:rPr sz="3200" b="1" i="0">
                <a:solidFill>
                  <a:srgbClr val="F0E8E8"/>
                </a:solidFill>
                <a:latin typeface="Segoe UI Semibold"/>
              </a:rPr>
              <a:t>Démo &amp; bilan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280160" cy="38100"/>
          </a:xfrm>
          <a:prstGeom prst="rect">
            <a:avLst/>
          </a:prstGeom>
          <a:solidFill>
            <a:srgbClr val="B8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06666"/>
                </a:solidFill>
                <a:latin typeface="Segoe UI"/>
              </a:rPr>
              <a:t>🎬 Démo live (le bandeau du Juge sous chaque réponse)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1554480"/>
          </a:xfrm>
          <a:prstGeom prst="roundRect">
            <a:avLst>
              <a:gd name="adj" fmla="val 3000"/>
            </a:avLst>
          </a:prstGeom>
          <a:solidFill>
            <a:srgbClr val="0A0606"/>
          </a:solidFill>
          <a:ln w="12700">
            <a:solidFill>
              <a:srgbClr val="B8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"Parle-moi de The Shining"        -&gt; query_movie_metadata  (SQL)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"Films similaires à Hereditary"   -&gt; similar_movies        (FAISS)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"Quel âge a LE film ?"            -&gt; mémoire multi-tours ✨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 i="0">
                <a:solidFill>
                  <a:srgbClr val="E8D8B0"/>
                </a:solidFill>
                <a:latin typeface="Consolas"/>
              </a:rPr>
              <a:t>"Je survivrais dans Scream ?"     -&gt; survival_sim 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06666"/>
                </a:solidFill>
                <a:latin typeface="Segoe UI"/>
              </a:rPr>
              <a:t>✅ Ce qu'on retient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F0E8E8"/>
                </a:solidFill>
                <a:latin typeface="Segoe UI"/>
              </a:rPr>
              <a:t>▸ Découplage front / API / agent — 3 devs en parallèle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F0E8E8"/>
                </a:solidFill>
                <a:latin typeface="Segoe UI"/>
              </a:rPr>
              <a:t>▸ Zéro SQL généré par le LLM — requêtes paramétrées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F0E8E8"/>
                </a:solidFill>
                <a:latin typeface="Segoe UI"/>
              </a:rPr>
              <a:t>▸ Le Juge : confiance mesurée et affichée, retry auto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06666"/>
                </a:solidFill>
                <a:latin typeface="Segoe UI"/>
              </a:rPr>
              <a:t>🔮 Perspectives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8862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F0E8E8"/>
                </a:solidFill>
                <a:latin typeface="Segoe UI"/>
              </a:rPr>
              <a:t>▸ Juge sur un modèle différent (angles morts croisés)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F0E8E8"/>
                </a:solidFill>
                <a:latin typeface="Segoe UI"/>
              </a:rPr>
              <a:t>▸ pgvector si les données deviennent évolutives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F0E8E8"/>
                </a:solidFill>
                <a:latin typeface="Segoe UI"/>
              </a:rPr>
              <a:t>▸ Historique persistant en base, au-delà de la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C8B0B0"/>
                </a:solidFill>
                <a:latin typeface="Segoe UI"/>
              </a:rPr>
              <a:t>(+ l'UI cache des zombies interactifs — drag &amp; throw, à lancer sur la lune 🧟🌕)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8B0B0"/>
                </a:solidFill>
                <a:latin typeface="Segoe UI"/>
              </a:rPr>
              <a:t>HorRAGor BOT  —  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